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61" r:id="rId4"/>
    <p:sldId id="258" r:id="rId5"/>
    <p:sldId id="259" r:id="rId6"/>
    <p:sldId id="260"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5220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Steward is an AI office manager. Someone snaps a photo of what’s broken, Steward works out what it is and how to fix it, and if it can’t be fixed on the spot it calls the right person with the full brief. Five slides: the problem, how it works, why it wins, and the wand.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list. None of these is hard, but every one lands on the office manager, and nothing is built for their job. They spend the day routing: who is it, who fixes it, who do I call. That time is the cost.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1924D-DCE3-AB61-1F04-8AD401315F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AE9492-4E18-204B-4C19-8F850F087E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0E3B03-49DD-27FC-0E40-CA2AE3D8AF19}"/>
              </a:ext>
            </a:extLst>
          </p:cNvPr>
          <p:cNvSpPr>
            <a:spLocks noGrp="1"/>
          </p:cNvSpPr>
          <p:nvPr>
            <p:ph type="body" idx="1"/>
          </p:nvPr>
        </p:nvSpPr>
        <p:spPr/>
        <p:txBody>
          <a:bodyPr/>
          <a:lstStyle/>
          <a:p>
            <a:r>
              <a:rPr lang="en-US" dirty="0"/>
              <a:t>Open with the list. None of these is hard, but every one lands on the office manager, and nothing is built for their job. They spend the day routing: who is it, who fixes it, who do I call. That time is the cost.</a:t>
            </a:r>
          </a:p>
        </p:txBody>
      </p:sp>
      <p:sp>
        <p:nvSpPr>
          <p:cNvPr id="4" name="Slide Number Placeholder 3">
            <a:extLst>
              <a:ext uri="{FF2B5EF4-FFF2-40B4-BE49-F238E27FC236}">
                <a16:creationId xmlns:a16="http://schemas.microsoft.com/office/drawing/2014/main" id="{761A84C9-107F-ECA4-0EBB-5524E1778E2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051724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steps left to right. The colours mean something: white is the report, lime is Steward talking, blue is memory, green is handing it off. In the prototype today the vision, voice and Slack steps are simulated; the next step is wiring in OpenAI vision, ElevenLabs and Slack for real.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“why not Meta or a general assistant”. They start from nothing every time. Steward builds a memory of your office, which is the moat, and it stays private to your office and device. The payoff: less time on small problems, fewer interruptions, and call-out spend the COO can see.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picture. The wand is how Steward leaves the screen: a camera to see the fault and a speaker to talk you through the fix, in the office manager’s hand. This is a concept visual, not a working device.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CEEE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96330"/>
            <a:ext cx="10566400" cy="533400"/>
          </a:xfrm>
          <a:prstGeom prst="rect">
            <a:avLst/>
          </a:prstGeom>
          <a:noFill/>
          <a:ln/>
        </p:spPr>
        <p:txBody>
          <a:bodyPr wrap="square" lIns="0" tIns="0" rIns="0" bIns="0" rtlCol="0" anchor="t"/>
          <a:lstStyle>
            <a:lvl1pPr marL="0" indent="0" algn="l">
              <a:lnSpc>
                <a:spcPct val="115000"/>
              </a:lnSpc>
              <a:buNone/>
              <a:defRPr lang="en-US" sz="4000" dirty="0">
                <a:solidFill>
                  <a:srgbClr val="121412"/>
                </a:solidFill>
                <a:latin typeface="Outfit" pitchFamily="34" charset="0"/>
                <a:ea typeface="Outfit" pitchFamily="34" charset="-122"/>
                <a:cs typeface="Outfit" pitchFamily="34" charset="-120"/>
              </a:defRPr>
            </a:lvl1pPr>
          </a:lstStyle>
          <a:p>
            <a:pPr marL="0" indent="0" algn="l">
              <a:lnSpc>
                <a:spcPct val="115000"/>
              </a:lnSpc>
              <a:buNone/>
            </a:pPr>
            <a:endParaRPr lang="en-US" sz="4000" dirty="0"/>
          </a:p>
        </p:txBody>
      </p:sp>
      <p:sp>
        <p:nvSpPr>
          <p:cNvPr id="3" name="Text Placeholder 2"/>
          <p:cNvSpPr>
            <a:spLocks noGrp="1"/>
          </p:cNvSpPr>
          <p:nvPr>
            <p:ph type="body" idx="101"/>
          </p:nvPr>
        </p:nvSpPr>
        <p:spPr>
          <a:xfrm>
            <a:off x="812800" y="2034530"/>
            <a:ext cx="10566400" cy="4010670"/>
          </a:xfrm>
          <a:prstGeom prst="rect">
            <a:avLst/>
          </a:prstGeom>
          <a:noFill/>
          <a:ln/>
        </p:spPr>
        <p:txBody>
          <a:bodyPr wrap="square" lIns="0" tIns="0" rIns="0" bIns="0" rtlCol="0" anchor="t"/>
          <a:lstStyle>
            <a:lvl1pPr marL="0" indent="0" algn="l">
              <a:lnSpc>
                <a:spcPct val="140000"/>
              </a:lnSpc>
              <a:buNone/>
              <a:defRPr lang="en-US" sz="1600" dirty="0">
                <a:solidFill>
                  <a:srgbClr val="121412"/>
                </a:solidFill>
                <a:latin typeface="Outfit" pitchFamily="34" charset="0"/>
                <a:ea typeface="Outfit" pitchFamily="34" charset="-122"/>
                <a:cs typeface="Outfit"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CEEE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96330"/>
            <a:ext cx="10566400" cy="533400"/>
          </a:xfrm>
          <a:prstGeom prst="rect">
            <a:avLst/>
          </a:prstGeom>
          <a:noFill/>
          <a:ln/>
        </p:spPr>
        <p:txBody>
          <a:bodyPr wrap="square" lIns="0" tIns="0" rIns="0" bIns="0" rtlCol="0" anchor="t"/>
          <a:lstStyle>
            <a:lvl1pPr marL="0" indent="0" algn="l">
              <a:lnSpc>
                <a:spcPct val="115000"/>
              </a:lnSpc>
              <a:buNone/>
              <a:defRPr lang="en-US" sz="4000" dirty="0">
                <a:solidFill>
                  <a:srgbClr val="121412"/>
                </a:solidFill>
                <a:latin typeface="Outfit" pitchFamily="34" charset="0"/>
                <a:ea typeface="Outfit" pitchFamily="34" charset="-122"/>
                <a:cs typeface="Outfit" pitchFamily="34" charset="-120"/>
              </a:defRPr>
            </a:lvl1pPr>
          </a:lstStyle>
          <a:p>
            <a:pPr marL="0" indent="0" algn="l">
              <a:lnSpc>
                <a:spcPct val="115000"/>
              </a:lnSpc>
              <a:buNone/>
            </a:pPr>
            <a:endParaRPr lang="en-US" sz="4000" dirty="0"/>
          </a:p>
        </p:txBody>
      </p:sp>
      <p:sp>
        <p:nvSpPr>
          <p:cNvPr id="3" name="Text Placeholder 2"/>
          <p:cNvSpPr>
            <a:spLocks noGrp="1"/>
          </p:cNvSpPr>
          <p:nvPr>
            <p:ph type="body" idx="101"/>
          </p:nvPr>
        </p:nvSpPr>
        <p:spPr>
          <a:xfrm>
            <a:off x="812800" y="2034530"/>
            <a:ext cx="10566400" cy="4010670"/>
          </a:xfrm>
          <a:prstGeom prst="rect">
            <a:avLst/>
          </a:prstGeom>
          <a:noFill/>
          <a:ln/>
        </p:spPr>
        <p:txBody>
          <a:bodyPr wrap="square" lIns="0" tIns="0" rIns="0" bIns="0" rtlCol="0" anchor="t"/>
          <a:lstStyle>
            <a:lvl1pPr marL="0" indent="0" algn="l">
              <a:lnSpc>
                <a:spcPct val="140000"/>
              </a:lnSpc>
              <a:buNone/>
              <a:defRPr lang="en-US" sz="1600" dirty="0">
                <a:solidFill>
                  <a:srgbClr val="121412"/>
                </a:solidFill>
                <a:latin typeface="Outfit" pitchFamily="34" charset="0"/>
                <a:ea typeface="Outfit" pitchFamily="34" charset="-122"/>
                <a:cs typeface="Outfit"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FFFFF"/>
              </a:gs>
              <a:gs pos="45000">
                <a:srgbClr val="F5F0D6"/>
              </a:gs>
              <a:gs pos="100000">
                <a:srgbClr val="E9F37E"/>
              </a:gs>
            </a:gsLst>
            <a:lin ang="5400000" scaled="0"/>
          </a:gradFill>
          <a:ln/>
        </p:spPr>
        <p:txBody>
          <a:bodyPr/>
          <a:lstStyle/>
          <a:p>
            <a:endParaRPr lang="en-US"/>
          </a:p>
        </p:txBody>
      </p:sp>
      <p:sp>
        <p:nvSpPr>
          <p:cNvPr id="3" name="Shape 1"/>
          <p:cNvSpPr/>
          <p:nvPr/>
        </p:nvSpPr>
        <p:spPr>
          <a:xfrm>
            <a:off x="815975" y="815975"/>
            <a:ext cx="654050" cy="654050"/>
          </a:xfrm>
          <a:prstGeom prst="roundRect">
            <a:avLst>
              <a:gd name="adj" fmla="val 26699"/>
            </a:avLst>
          </a:prstGeom>
          <a:gradFill rotWithShape="1">
            <a:gsLst>
              <a:gs pos="0">
                <a:srgbClr val="FFFFFF"/>
              </a:gs>
              <a:gs pos="100000">
                <a:srgbClr val="E9F37E"/>
              </a:gs>
            </a:gsLst>
            <a:lin ang="5400000" scaled="0"/>
          </a:gradFill>
          <a:ln w="6350">
            <a:solidFill>
              <a:srgbClr val="E3E6DF"/>
            </a:solidFill>
            <a:prstDash val="solid"/>
          </a:ln>
        </p:spPr>
        <p:txBody>
          <a:bodyPr/>
          <a:lstStyle/>
          <a:p>
            <a:endParaRPr lang="en-US"/>
          </a:p>
        </p:txBody>
      </p:sp>
      <p:pic>
        <p:nvPicPr>
          <p:cNvPr id="4" name="Image 0" descr="Steward logo"/>
          <p:cNvPicPr>
            <a:picLocks noChangeAspect="1"/>
          </p:cNvPicPr>
          <p:nvPr/>
        </p:nvPicPr>
        <p:blipFill>
          <a:blip r:embed="rId3"/>
          <a:srcRect/>
          <a:stretch/>
        </p:blipFill>
        <p:spPr>
          <a:xfrm>
            <a:off x="939800" y="939800"/>
            <a:ext cx="406400" cy="406400"/>
          </a:xfrm>
          <a:prstGeom prst="rect">
            <a:avLst/>
          </a:prstGeom>
        </p:spPr>
      </p:pic>
      <p:sp>
        <p:nvSpPr>
          <p:cNvPr id="5" name="Text 2"/>
          <p:cNvSpPr/>
          <p:nvPr/>
        </p:nvSpPr>
        <p:spPr>
          <a:xfrm>
            <a:off x="1651000" y="1000770"/>
            <a:ext cx="287125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21412"/>
                </a:solidFill>
                <a:latin typeface="Outfit" pitchFamily="34" charset="0"/>
                <a:ea typeface="Outfit" pitchFamily="34" charset="-122"/>
                <a:cs typeface="Outfit" pitchFamily="34" charset="-120"/>
              </a:rPr>
              <a:t>Transition hackathon pitch</a:t>
            </a:r>
            <a:endParaRPr lang="en-US" sz="1600" dirty="0"/>
          </a:p>
        </p:txBody>
      </p:sp>
      <p:sp>
        <p:nvSpPr>
          <p:cNvPr id="6" name="Text 3"/>
          <p:cNvSpPr>
            <a:spLocks noGrp="1"/>
          </p:cNvSpPr>
          <p:nvPr>
            <p:ph type="title"/>
          </p:nvPr>
        </p:nvSpPr>
        <p:spPr>
          <a:xfrm>
            <a:off x="812800" y="3251200"/>
            <a:ext cx="10883392" cy="1295400"/>
          </a:xfrm>
          <a:prstGeom prst="rect">
            <a:avLst/>
          </a:prstGeom>
          <a:noFill/>
          <a:ln/>
        </p:spPr>
        <p:txBody>
          <a:bodyPr wrap="square" lIns="0" tIns="0" rIns="0" bIns="0" rtlCol="0" anchor="t">
            <a:normAutofit/>
          </a:bodyPr>
          <a:lstStyle/>
          <a:p>
            <a:pPr marL="0" indent="0" algn="l">
              <a:lnSpc>
                <a:spcPts val="10000"/>
              </a:lnSpc>
              <a:buNone/>
            </a:pPr>
            <a:r>
              <a:rPr lang="en-US" sz="10000" b="0" i="0" kern="0" spc="-400" dirty="0">
                <a:solidFill>
                  <a:srgbClr val="121412"/>
                </a:solidFill>
                <a:latin typeface="Outfit" pitchFamily="34" charset="0"/>
                <a:ea typeface="Outfit" pitchFamily="34" charset="-122"/>
                <a:cs typeface="Outfit" pitchFamily="34" charset="-120"/>
              </a:rPr>
              <a:t>Steward</a:t>
            </a:r>
            <a:endParaRPr lang="en-US" sz="10000" dirty="0"/>
          </a:p>
        </p:txBody>
      </p:sp>
      <p:sp>
        <p:nvSpPr>
          <p:cNvPr id="7" name="Text 4"/>
          <p:cNvSpPr/>
          <p:nvPr/>
        </p:nvSpPr>
        <p:spPr>
          <a:xfrm>
            <a:off x="812800" y="4724400"/>
            <a:ext cx="10883392" cy="1143000"/>
          </a:xfrm>
          <a:prstGeom prst="rect">
            <a:avLst/>
          </a:prstGeom>
          <a:noFill/>
          <a:ln/>
        </p:spPr>
        <p:txBody>
          <a:bodyPr wrap="square" lIns="0" tIns="0" rIns="0" bIns="0" rtlCol="0" anchor="t">
            <a:normAutofit/>
          </a:bodyPr>
          <a:lstStyle/>
          <a:p>
            <a:pPr marL="0" indent="0" algn="l">
              <a:lnSpc>
                <a:spcPts val="4400"/>
              </a:lnSpc>
              <a:buNone/>
            </a:pPr>
            <a:r>
              <a:rPr lang="en-US" sz="4000" kern="0" spc="-100" dirty="0">
                <a:solidFill>
                  <a:srgbClr val="121412"/>
                </a:solidFill>
                <a:latin typeface="Outfit" pitchFamily="34" charset="0"/>
                <a:ea typeface="Outfit" pitchFamily="34" charset="-122"/>
                <a:cs typeface="Outfit" pitchFamily="34" charset="-120"/>
              </a:rPr>
              <a:t>The AI office manager that sees, fixes and escalates.</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CEEE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86D66"/>
                </a:solidFill>
                <a:latin typeface="Outfit" pitchFamily="34" charset="0"/>
                <a:ea typeface="Outfit" pitchFamily="34" charset="-122"/>
                <a:cs typeface="Outfit" pitchFamily="34" charset="-120"/>
              </a:rPr>
              <a:t>The problem</a:t>
            </a:r>
            <a:endParaRPr lang="en-US" sz="1300" dirty="0"/>
          </a:p>
        </p:txBody>
      </p:sp>
      <p:sp>
        <p:nvSpPr>
          <p:cNvPr id="3" name="Text 1"/>
          <p:cNvSpPr>
            <a:spLocks noGrp="1"/>
          </p:cNvSpPr>
          <p:nvPr>
            <p:ph type="title"/>
          </p:nvPr>
        </p:nvSpPr>
        <p:spPr>
          <a:xfrm>
            <a:off x="812800" y="1196330"/>
            <a:ext cx="10883392" cy="558800"/>
          </a:xfrm>
          <a:prstGeom prst="rect">
            <a:avLst/>
          </a:prstGeom>
          <a:noFill/>
          <a:ln/>
        </p:spPr>
        <p:txBody>
          <a:bodyPr wrap="square" lIns="0" tIns="0" rIns="0" bIns="0" rtlCol="0" anchor="t">
            <a:normAutofit/>
          </a:bodyPr>
          <a:lstStyle/>
          <a:p>
            <a:pPr marL="0" indent="0" algn="l">
              <a:lnSpc>
                <a:spcPts val="4200"/>
              </a:lnSpc>
              <a:buNone/>
            </a:pPr>
            <a:r>
              <a:rPr lang="en-US" sz="4000" b="0" i="0" kern="0" spc="-120" dirty="0">
                <a:solidFill>
                  <a:srgbClr val="121412"/>
                </a:solidFill>
                <a:latin typeface="Outfit" pitchFamily="34" charset="0"/>
                <a:ea typeface="Outfit" pitchFamily="34" charset="-122"/>
                <a:cs typeface="Outfit" pitchFamily="34" charset="-120"/>
              </a:rPr>
              <a:t>Small problems eat the office manager’s day</a:t>
            </a:r>
            <a:endParaRPr lang="en-US" sz="4000" dirty="0"/>
          </a:p>
        </p:txBody>
      </p:sp>
      <p:sp>
        <p:nvSpPr>
          <p:cNvPr id="4" name="Text 2"/>
          <p:cNvSpPr/>
          <p:nvPr/>
        </p:nvSpPr>
        <p:spPr>
          <a:xfrm>
            <a:off x="812800" y="3990380"/>
            <a:ext cx="5232400" cy="660400"/>
          </a:xfrm>
          <a:prstGeom prst="rect">
            <a:avLst/>
          </a:prstGeom>
          <a:noFill/>
          <a:ln/>
        </p:spPr>
        <p:txBody>
          <a:bodyPr wrap="square" lIns="0" tIns="0" rIns="0" bIns="0" rtlCol="0" anchor="t">
            <a:normAutofit/>
          </a:bodyPr>
          <a:lstStyle/>
          <a:p>
            <a:pPr marL="0" indent="0" algn="l">
              <a:lnSpc>
                <a:spcPts val="2500"/>
              </a:lnSpc>
              <a:buNone/>
            </a:pPr>
            <a:r>
              <a:rPr lang="en-US" sz="2000" dirty="0">
                <a:solidFill>
                  <a:srgbClr val="121412"/>
                </a:solidFill>
                <a:latin typeface="Outfit" pitchFamily="34" charset="0"/>
                <a:ea typeface="Outfit" pitchFamily="34" charset="-122"/>
                <a:cs typeface="Outfit" pitchFamily="34" charset="-120"/>
              </a:rPr>
              <a:t>Each one is low value. Each one is urgent to someone.</a:t>
            </a:r>
            <a:endParaRPr lang="en-US" sz="2000" dirty="0"/>
          </a:p>
        </p:txBody>
      </p:sp>
      <p:sp>
        <p:nvSpPr>
          <p:cNvPr id="5" name="Text 3"/>
          <p:cNvSpPr/>
          <p:nvPr/>
        </p:nvSpPr>
        <p:spPr>
          <a:xfrm>
            <a:off x="812800" y="4777780"/>
            <a:ext cx="52324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686D66"/>
                </a:solidFill>
                <a:latin typeface="Outfit" pitchFamily="34" charset="0"/>
                <a:ea typeface="Outfit" pitchFamily="34" charset="-122"/>
                <a:cs typeface="Outfit" pitchFamily="34" charset="-120"/>
              </a:rPr>
              <a:t>Staff interrupt the office manager, who becomes the human router for every fault, order and supplier call.</a:t>
            </a:r>
            <a:endParaRPr lang="en-US" sz="1600" dirty="0"/>
          </a:p>
        </p:txBody>
      </p:sp>
      <p:sp>
        <p:nvSpPr>
          <p:cNvPr id="6" name="Text 4"/>
          <p:cNvSpPr/>
          <p:nvPr/>
        </p:nvSpPr>
        <p:spPr>
          <a:xfrm>
            <a:off x="6299200" y="3495080"/>
            <a:ext cx="2489200" cy="510530"/>
          </a:xfrm>
          <a:prstGeom prst="roundRect">
            <a:avLst>
              <a:gd name="adj" fmla="val 29851"/>
            </a:avLst>
          </a:prstGeom>
          <a:solidFill>
            <a:srgbClr val="FFFFFF"/>
          </a:solidFill>
          <a:ln/>
        </p:spPr>
        <p:txBody>
          <a:bodyPr wrap="square" lIns="133164" tIns="95064" rIns="69156" bIns="69664" rtlCol="0" anchor="t">
            <a:normAutofit/>
          </a:bodyPr>
          <a:lstStyle/>
          <a:p>
            <a:pPr marL="0" indent="0" algn="l">
              <a:lnSpc>
                <a:spcPts val="1820"/>
              </a:lnSpc>
              <a:buNone/>
            </a:pPr>
            <a:r>
              <a:rPr lang="en-US" sz="1300" dirty="0">
                <a:solidFill>
                  <a:srgbClr val="121412"/>
                </a:solidFill>
                <a:latin typeface="Outfit" pitchFamily="34" charset="0"/>
                <a:ea typeface="Outfit" pitchFamily="34" charset="-122"/>
                <a:cs typeface="Outfit" pitchFamily="34" charset="-120"/>
              </a:rPr>
              <a:t>Coffee machine is broken</a:t>
            </a:r>
            <a:endParaRPr lang="en-US" sz="1300" dirty="0"/>
          </a:p>
        </p:txBody>
      </p:sp>
      <p:sp>
        <p:nvSpPr>
          <p:cNvPr id="7" name="Text 5"/>
          <p:cNvSpPr/>
          <p:nvPr/>
        </p:nvSpPr>
        <p:spPr>
          <a:xfrm>
            <a:off x="8890000" y="3495080"/>
            <a:ext cx="2489200" cy="510530"/>
          </a:xfrm>
          <a:prstGeom prst="roundRect">
            <a:avLst>
              <a:gd name="adj" fmla="val 29851"/>
            </a:avLst>
          </a:prstGeom>
          <a:solidFill>
            <a:srgbClr val="FFFFFF"/>
          </a:solidFill>
          <a:ln/>
        </p:spPr>
        <p:txBody>
          <a:bodyPr wrap="square" lIns="133164" tIns="95064" rIns="69156" bIns="69664" rtlCol="0" anchor="t">
            <a:normAutofit/>
          </a:bodyPr>
          <a:lstStyle/>
          <a:p>
            <a:pPr marL="0" indent="0" algn="l">
              <a:lnSpc>
                <a:spcPts val="1820"/>
              </a:lnSpc>
              <a:buNone/>
            </a:pPr>
            <a:r>
              <a:rPr lang="en-US" sz="1300" dirty="0">
                <a:solidFill>
                  <a:srgbClr val="121412"/>
                </a:solidFill>
                <a:latin typeface="Outfit" pitchFamily="34" charset="0"/>
                <a:ea typeface="Outfit" pitchFamily="34" charset="-122"/>
                <a:cs typeface="Outfit" pitchFamily="34" charset="-120"/>
              </a:rPr>
              <a:t>The Wi-Fi is down</a:t>
            </a:r>
            <a:endParaRPr lang="en-US" sz="1300" dirty="0"/>
          </a:p>
        </p:txBody>
      </p:sp>
      <p:sp>
        <p:nvSpPr>
          <p:cNvPr id="8" name="Text 6"/>
          <p:cNvSpPr/>
          <p:nvPr/>
        </p:nvSpPr>
        <p:spPr>
          <a:xfrm>
            <a:off x="6299200" y="4107210"/>
            <a:ext cx="2489200" cy="510530"/>
          </a:xfrm>
          <a:prstGeom prst="roundRect">
            <a:avLst>
              <a:gd name="adj" fmla="val 29851"/>
            </a:avLst>
          </a:prstGeom>
          <a:solidFill>
            <a:srgbClr val="FFFFFF"/>
          </a:solidFill>
          <a:ln/>
        </p:spPr>
        <p:txBody>
          <a:bodyPr wrap="square" lIns="133164" tIns="95064" rIns="69156" bIns="69664" rtlCol="0" anchor="t">
            <a:normAutofit/>
          </a:bodyPr>
          <a:lstStyle/>
          <a:p>
            <a:pPr marL="0" indent="0" algn="l">
              <a:lnSpc>
                <a:spcPts val="1820"/>
              </a:lnSpc>
              <a:buNone/>
            </a:pPr>
            <a:r>
              <a:rPr lang="en-US" sz="1300" dirty="0">
                <a:solidFill>
                  <a:srgbClr val="121412"/>
                </a:solidFill>
                <a:latin typeface="Outfit" pitchFamily="34" charset="0"/>
                <a:ea typeface="Outfit" pitchFamily="34" charset="-122"/>
                <a:cs typeface="Outfit" pitchFamily="34" charset="-120"/>
              </a:rPr>
              <a:t>A fuse has gone</a:t>
            </a:r>
            <a:endParaRPr lang="en-US" sz="1300" dirty="0"/>
          </a:p>
        </p:txBody>
      </p:sp>
      <p:sp>
        <p:nvSpPr>
          <p:cNvPr id="9" name="Text 7"/>
          <p:cNvSpPr/>
          <p:nvPr/>
        </p:nvSpPr>
        <p:spPr>
          <a:xfrm>
            <a:off x="8890000" y="4107210"/>
            <a:ext cx="2489200" cy="510530"/>
          </a:xfrm>
          <a:prstGeom prst="roundRect">
            <a:avLst>
              <a:gd name="adj" fmla="val 29851"/>
            </a:avLst>
          </a:prstGeom>
          <a:solidFill>
            <a:srgbClr val="FFFFFF"/>
          </a:solidFill>
          <a:ln/>
        </p:spPr>
        <p:txBody>
          <a:bodyPr wrap="square" lIns="133164" tIns="95064" rIns="69156" bIns="69664" rtlCol="0" anchor="t">
            <a:normAutofit/>
          </a:bodyPr>
          <a:lstStyle/>
          <a:p>
            <a:pPr marL="0" indent="0" algn="l">
              <a:lnSpc>
                <a:spcPts val="1820"/>
              </a:lnSpc>
              <a:buNone/>
            </a:pPr>
            <a:r>
              <a:rPr lang="en-US" sz="1300" dirty="0">
                <a:solidFill>
                  <a:srgbClr val="121412"/>
                </a:solidFill>
                <a:latin typeface="Outfit" pitchFamily="34" charset="0"/>
                <a:ea typeface="Outfit" pitchFamily="34" charset="-122"/>
                <a:cs typeface="Outfit" pitchFamily="34" charset="-120"/>
              </a:rPr>
              <a:t>Printer is not working</a:t>
            </a:r>
            <a:endParaRPr lang="en-US" sz="1300" dirty="0"/>
          </a:p>
        </p:txBody>
      </p:sp>
      <p:sp>
        <p:nvSpPr>
          <p:cNvPr id="10" name="Text 8"/>
          <p:cNvSpPr/>
          <p:nvPr/>
        </p:nvSpPr>
        <p:spPr>
          <a:xfrm>
            <a:off x="6299200" y="4719340"/>
            <a:ext cx="2489200" cy="510530"/>
          </a:xfrm>
          <a:prstGeom prst="roundRect">
            <a:avLst>
              <a:gd name="adj" fmla="val 29851"/>
            </a:avLst>
          </a:prstGeom>
          <a:solidFill>
            <a:srgbClr val="FFFFFF"/>
          </a:solidFill>
          <a:ln/>
        </p:spPr>
        <p:txBody>
          <a:bodyPr wrap="square" lIns="133164" tIns="95064" rIns="69156" bIns="69664" rtlCol="0" anchor="t">
            <a:normAutofit/>
          </a:bodyPr>
          <a:lstStyle/>
          <a:p>
            <a:pPr marL="0" indent="0" algn="l">
              <a:lnSpc>
                <a:spcPts val="1820"/>
              </a:lnSpc>
              <a:buNone/>
            </a:pPr>
            <a:r>
              <a:rPr lang="en-US" sz="1300" dirty="0">
                <a:solidFill>
                  <a:srgbClr val="121412"/>
                </a:solidFill>
                <a:latin typeface="Outfit" pitchFamily="34" charset="0"/>
                <a:ea typeface="Outfit" pitchFamily="34" charset="-122"/>
                <a:cs typeface="Outfit" pitchFamily="34" charset="-120"/>
              </a:rPr>
              <a:t>Screens need installing</a:t>
            </a:r>
            <a:endParaRPr lang="en-US" sz="1300" dirty="0"/>
          </a:p>
        </p:txBody>
      </p:sp>
      <p:sp>
        <p:nvSpPr>
          <p:cNvPr id="11" name="Text 9"/>
          <p:cNvSpPr/>
          <p:nvPr/>
        </p:nvSpPr>
        <p:spPr>
          <a:xfrm>
            <a:off x="8890000" y="4719340"/>
            <a:ext cx="2489200" cy="510530"/>
          </a:xfrm>
          <a:prstGeom prst="roundRect">
            <a:avLst>
              <a:gd name="adj" fmla="val 29851"/>
            </a:avLst>
          </a:prstGeom>
          <a:solidFill>
            <a:srgbClr val="FFFFFF"/>
          </a:solidFill>
          <a:ln/>
        </p:spPr>
        <p:txBody>
          <a:bodyPr wrap="square" lIns="133164" tIns="95064" rIns="69156" bIns="69664" rtlCol="0" anchor="t">
            <a:normAutofit/>
          </a:bodyPr>
          <a:lstStyle/>
          <a:p>
            <a:pPr marL="0" indent="0" algn="l">
              <a:lnSpc>
                <a:spcPts val="1820"/>
              </a:lnSpc>
              <a:buNone/>
            </a:pPr>
            <a:r>
              <a:rPr lang="en-US" sz="1300" dirty="0">
                <a:solidFill>
                  <a:srgbClr val="121412"/>
                </a:solidFill>
                <a:latin typeface="Outfit" pitchFamily="34" charset="0"/>
                <a:ea typeface="Outfit" pitchFamily="34" charset="-122"/>
                <a:cs typeface="Outfit" pitchFamily="34" charset="-120"/>
              </a:rPr>
              <a:t>Lunch needs to go out</a:t>
            </a:r>
            <a:endParaRPr lang="en-US" sz="1300" dirty="0"/>
          </a:p>
        </p:txBody>
      </p:sp>
      <p:sp>
        <p:nvSpPr>
          <p:cNvPr id="12" name="Text 10"/>
          <p:cNvSpPr/>
          <p:nvPr/>
        </p:nvSpPr>
        <p:spPr>
          <a:xfrm>
            <a:off x="6299200" y="5331470"/>
            <a:ext cx="2489200" cy="510530"/>
          </a:xfrm>
          <a:prstGeom prst="roundRect">
            <a:avLst>
              <a:gd name="adj" fmla="val 29851"/>
            </a:avLst>
          </a:prstGeom>
          <a:solidFill>
            <a:srgbClr val="FFFFFF"/>
          </a:solidFill>
          <a:ln/>
        </p:spPr>
        <p:txBody>
          <a:bodyPr wrap="square" lIns="133164" tIns="95064" rIns="69156" bIns="69664" rtlCol="0" anchor="t">
            <a:normAutofit/>
          </a:bodyPr>
          <a:lstStyle/>
          <a:p>
            <a:pPr marL="0" indent="0" algn="l">
              <a:lnSpc>
                <a:spcPts val="1820"/>
              </a:lnSpc>
              <a:buNone/>
            </a:pPr>
            <a:r>
              <a:rPr lang="en-US" sz="1300" dirty="0">
                <a:solidFill>
                  <a:srgbClr val="121412"/>
                </a:solidFill>
                <a:latin typeface="Outfit" pitchFamily="34" charset="0"/>
                <a:ea typeface="Outfit" pitchFamily="34" charset="-122"/>
                <a:cs typeface="Outfit" pitchFamily="34" charset="-120"/>
              </a:rPr>
              <a:t>Plants are dying</a:t>
            </a:r>
            <a:endParaRPr lang="en-US" sz="1300" dirty="0"/>
          </a:p>
        </p:txBody>
      </p:sp>
      <p:sp>
        <p:nvSpPr>
          <p:cNvPr id="13" name="Text 11"/>
          <p:cNvSpPr/>
          <p:nvPr/>
        </p:nvSpPr>
        <p:spPr>
          <a:xfrm>
            <a:off x="8890000" y="5331470"/>
            <a:ext cx="2489200" cy="510530"/>
          </a:xfrm>
          <a:prstGeom prst="roundRect">
            <a:avLst>
              <a:gd name="adj" fmla="val 29851"/>
            </a:avLst>
          </a:prstGeom>
          <a:solidFill>
            <a:srgbClr val="FFFFFF"/>
          </a:solidFill>
          <a:ln/>
        </p:spPr>
        <p:txBody>
          <a:bodyPr wrap="square" lIns="133164" tIns="95064" rIns="69156" bIns="69664" rtlCol="0" anchor="t">
            <a:normAutofit/>
          </a:bodyPr>
          <a:lstStyle/>
          <a:p>
            <a:pPr marL="0" indent="0" algn="l">
              <a:lnSpc>
                <a:spcPts val="1820"/>
              </a:lnSpc>
              <a:buNone/>
            </a:pPr>
            <a:r>
              <a:rPr lang="en-US" sz="1300" dirty="0">
                <a:solidFill>
                  <a:srgbClr val="121412"/>
                </a:solidFill>
                <a:latin typeface="Outfit" pitchFamily="34" charset="0"/>
                <a:ea typeface="Outfit" pitchFamily="34" charset="-122"/>
                <a:cs typeface="Outfit" pitchFamily="34" charset="-120"/>
              </a:rPr>
              <a:t>Dishwasher stopped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CEEE9"/>
        </a:solidFill>
        <a:effectLst/>
      </p:bgPr>
    </p:bg>
    <p:spTree>
      <p:nvGrpSpPr>
        <p:cNvPr id="1" name="">
          <a:extLst>
            <a:ext uri="{FF2B5EF4-FFF2-40B4-BE49-F238E27FC236}">
              <a16:creationId xmlns:a16="http://schemas.microsoft.com/office/drawing/2014/main" id="{32A3A711-4763-DA32-EB63-9EADF8F0EBA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2C0ABA9-AF23-5C69-A424-1832BF5C8F91}"/>
              </a:ext>
            </a:extLst>
          </p:cNvPr>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86D66"/>
                </a:solidFill>
                <a:latin typeface="Outfit" pitchFamily="34" charset="0"/>
                <a:ea typeface="Outfit" pitchFamily="34" charset="-122"/>
                <a:cs typeface="Outfit" pitchFamily="34" charset="-120"/>
              </a:rPr>
              <a:t>The Solution</a:t>
            </a:r>
            <a:endParaRPr lang="en-US" sz="1300" dirty="0"/>
          </a:p>
        </p:txBody>
      </p:sp>
      <p:sp>
        <p:nvSpPr>
          <p:cNvPr id="3" name="Text 1">
            <a:extLst>
              <a:ext uri="{FF2B5EF4-FFF2-40B4-BE49-F238E27FC236}">
                <a16:creationId xmlns:a16="http://schemas.microsoft.com/office/drawing/2014/main" id="{72C8A191-2FCA-1552-EE6D-B97CD020CF14}"/>
              </a:ext>
            </a:extLst>
          </p:cNvPr>
          <p:cNvSpPr>
            <a:spLocks noGrp="1"/>
          </p:cNvSpPr>
          <p:nvPr>
            <p:ph type="title"/>
          </p:nvPr>
        </p:nvSpPr>
        <p:spPr>
          <a:xfrm>
            <a:off x="812800" y="1196330"/>
            <a:ext cx="10883392" cy="558800"/>
          </a:xfrm>
          <a:prstGeom prst="rect">
            <a:avLst/>
          </a:prstGeom>
          <a:noFill/>
          <a:ln/>
        </p:spPr>
        <p:txBody>
          <a:bodyPr wrap="square" lIns="0" tIns="0" rIns="0" bIns="0" rtlCol="0" anchor="t">
            <a:normAutofit/>
          </a:bodyPr>
          <a:lstStyle/>
          <a:p>
            <a:pPr marL="0" indent="0" algn="l">
              <a:lnSpc>
                <a:spcPts val="4200"/>
              </a:lnSpc>
              <a:buNone/>
            </a:pPr>
            <a:r>
              <a:rPr lang="en-US" sz="4000" b="0" i="0" kern="0" spc="-120" dirty="0">
                <a:solidFill>
                  <a:srgbClr val="121412"/>
                </a:solidFill>
                <a:latin typeface="Outfit" pitchFamily="34" charset="0"/>
                <a:ea typeface="Outfit" pitchFamily="34" charset="-122"/>
                <a:cs typeface="Outfit" pitchFamily="34" charset="-120"/>
              </a:rPr>
              <a:t>Steward the Office Manager</a:t>
            </a:r>
            <a:endParaRPr lang="en-US" sz="4000" dirty="0"/>
          </a:p>
        </p:txBody>
      </p:sp>
      <p:pic>
        <p:nvPicPr>
          <p:cNvPr id="15" name="Picture 14">
            <a:extLst>
              <a:ext uri="{FF2B5EF4-FFF2-40B4-BE49-F238E27FC236}">
                <a16:creationId xmlns:a16="http://schemas.microsoft.com/office/drawing/2014/main" id="{6962FDEA-2AF5-8305-AE7C-C9FDB1B6091D}"/>
              </a:ext>
            </a:extLst>
          </p:cNvPr>
          <p:cNvPicPr>
            <a:picLocks noChangeAspect="1"/>
          </p:cNvPicPr>
          <p:nvPr/>
        </p:nvPicPr>
        <p:blipFill>
          <a:blip r:embed="rId3"/>
          <a:stretch>
            <a:fillRect/>
          </a:stretch>
        </p:blipFill>
        <p:spPr>
          <a:xfrm>
            <a:off x="6510170" y="3172470"/>
            <a:ext cx="5265270" cy="2310406"/>
          </a:xfrm>
          <a:prstGeom prst="rect">
            <a:avLst/>
          </a:prstGeom>
        </p:spPr>
      </p:pic>
      <p:pic>
        <p:nvPicPr>
          <p:cNvPr id="17" name="Picture 16">
            <a:extLst>
              <a:ext uri="{FF2B5EF4-FFF2-40B4-BE49-F238E27FC236}">
                <a16:creationId xmlns:a16="http://schemas.microsoft.com/office/drawing/2014/main" id="{08D24592-F9D3-E56E-2293-2A319DB21A50}"/>
              </a:ext>
            </a:extLst>
          </p:cNvPr>
          <p:cNvPicPr>
            <a:picLocks noChangeAspect="1"/>
          </p:cNvPicPr>
          <p:nvPr/>
        </p:nvPicPr>
        <p:blipFill>
          <a:blip r:embed="rId4"/>
          <a:stretch>
            <a:fillRect/>
          </a:stretch>
        </p:blipFill>
        <p:spPr>
          <a:xfrm>
            <a:off x="893688" y="1882130"/>
            <a:ext cx="1844777" cy="3952240"/>
          </a:xfrm>
          <a:prstGeom prst="rect">
            <a:avLst/>
          </a:prstGeom>
        </p:spPr>
      </p:pic>
      <p:pic>
        <p:nvPicPr>
          <p:cNvPr id="19" name="Picture 18">
            <a:extLst>
              <a:ext uri="{FF2B5EF4-FFF2-40B4-BE49-F238E27FC236}">
                <a16:creationId xmlns:a16="http://schemas.microsoft.com/office/drawing/2014/main" id="{2F578C6B-E857-8225-9069-2BB13B7E571C}"/>
              </a:ext>
            </a:extLst>
          </p:cNvPr>
          <p:cNvPicPr>
            <a:picLocks noChangeAspect="1"/>
          </p:cNvPicPr>
          <p:nvPr/>
        </p:nvPicPr>
        <p:blipFill>
          <a:blip r:embed="rId5"/>
          <a:stretch>
            <a:fillRect/>
          </a:stretch>
        </p:blipFill>
        <p:spPr>
          <a:xfrm>
            <a:off x="3016445" y="1755129"/>
            <a:ext cx="1545395" cy="4008057"/>
          </a:xfrm>
          <a:prstGeom prst="rect">
            <a:avLst/>
          </a:prstGeom>
        </p:spPr>
      </p:pic>
    </p:spTree>
    <p:extLst>
      <p:ext uri="{BB962C8B-B14F-4D97-AF65-F5344CB8AC3E}">
        <p14:creationId xmlns:p14="http://schemas.microsoft.com/office/powerpoint/2010/main" val="847385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ECEEE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
        <p:nvSpPr>
          <p:cNvPr id="3" name="Text 1"/>
          <p:cNvSpPr>
            <a:spLocks noGrp="1"/>
          </p:cNvSpPr>
          <p:nvPr>
            <p:ph type="title"/>
          </p:nvPr>
        </p:nvSpPr>
        <p:spPr>
          <a:xfrm>
            <a:off x="812800" y="1196330"/>
            <a:ext cx="10883392" cy="558800"/>
          </a:xfrm>
          <a:prstGeom prst="rect">
            <a:avLst/>
          </a:prstGeom>
          <a:noFill/>
          <a:ln/>
        </p:spPr>
        <p:txBody>
          <a:bodyPr wrap="square" lIns="0" tIns="0" rIns="0" bIns="0" rtlCol="0" anchor="t">
            <a:normAutofit/>
          </a:bodyPr>
          <a:lstStyle/>
          <a:p>
            <a:pPr marL="0" indent="0" algn="l">
              <a:lnSpc>
                <a:spcPts val="4200"/>
              </a:lnSpc>
              <a:buNone/>
            </a:pPr>
            <a:r>
              <a:rPr lang="en-US" sz="4000" b="0" i="0" kern="0" spc="-120" dirty="0">
                <a:solidFill>
                  <a:srgbClr val="121412"/>
                </a:solidFill>
                <a:latin typeface="Outfit" pitchFamily="34" charset="0"/>
                <a:ea typeface="Outfit" pitchFamily="34" charset="-122"/>
                <a:cs typeface="Outfit" pitchFamily="34" charset="-120"/>
              </a:rPr>
              <a:t>Snap it. Steward does the rest.</a:t>
            </a:r>
            <a:endParaRPr lang="en-US" sz="4000" dirty="0"/>
          </a:p>
        </p:txBody>
      </p:sp>
      <p:sp>
        <p:nvSpPr>
          <p:cNvPr id="4" name="Shape 2"/>
          <p:cNvSpPr/>
          <p:nvPr/>
        </p:nvSpPr>
        <p:spPr>
          <a:xfrm>
            <a:off x="812800" y="3523109"/>
            <a:ext cx="2527300" cy="2318891"/>
          </a:xfrm>
          <a:prstGeom prst="roundRect">
            <a:avLst>
              <a:gd name="adj" fmla="val 9858"/>
            </a:avLst>
          </a:prstGeom>
          <a:solidFill>
            <a:srgbClr val="FFFFFF"/>
          </a:solidFill>
          <a:ln/>
        </p:spPr>
        <p:txBody>
          <a:bodyPr/>
          <a:lstStyle/>
          <a:p>
            <a:endParaRPr lang="en-US"/>
          </a:p>
        </p:txBody>
      </p:sp>
      <p:sp>
        <p:nvSpPr>
          <p:cNvPr id="5" name="Text 3"/>
          <p:cNvSpPr/>
          <p:nvPr/>
        </p:nvSpPr>
        <p:spPr>
          <a:xfrm>
            <a:off x="1066800" y="3777109"/>
            <a:ext cx="2079879"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86D66"/>
                </a:solidFill>
                <a:latin typeface="Outfit" pitchFamily="34" charset="0"/>
                <a:ea typeface="Outfit" pitchFamily="34" charset="-122"/>
                <a:cs typeface="Outfit" pitchFamily="34" charset="-120"/>
              </a:rPr>
              <a:t>1</a:t>
            </a:r>
            <a:endParaRPr lang="en-US" sz="1300" dirty="0"/>
          </a:p>
        </p:txBody>
      </p:sp>
      <p:sp>
        <p:nvSpPr>
          <p:cNvPr id="6" name="Text 4"/>
          <p:cNvSpPr/>
          <p:nvPr/>
        </p:nvSpPr>
        <p:spPr>
          <a:xfrm>
            <a:off x="1066800" y="4109839"/>
            <a:ext cx="2079879" cy="304800"/>
          </a:xfrm>
          <a:prstGeom prst="rect">
            <a:avLst/>
          </a:prstGeom>
          <a:noFill/>
          <a:ln/>
        </p:spPr>
        <p:txBody>
          <a:bodyPr wrap="square" lIns="0" tIns="0" rIns="0" bIns="0" rtlCol="0" anchor="t">
            <a:normAutofit/>
          </a:bodyPr>
          <a:lstStyle/>
          <a:p>
            <a:pPr marL="0" indent="0" algn="l">
              <a:lnSpc>
                <a:spcPts val="2200"/>
              </a:lnSpc>
              <a:buNone/>
            </a:pPr>
            <a:r>
              <a:rPr lang="en-US" sz="2000" dirty="0">
                <a:solidFill>
                  <a:srgbClr val="121412"/>
                </a:solidFill>
                <a:latin typeface="Outfit" pitchFamily="34" charset="0"/>
                <a:ea typeface="Outfit" pitchFamily="34" charset="-122"/>
                <a:cs typeface="Outfit" pitchFamily="34" charset="-120"/>
              </a:rPr>
              <a:t>Snap it</a:t>
            </a:r>
            <a:endParaRPr lang="en-US" sz="2000" dirty="0"/>
          </a:p>
        </p:txBody>
      </p:sp>
      <p:sp>
        <p:nvSpPr>
          <p:cNvPr id="7" name="Text 5"/>
          <p:cNvSpPr/>
          <p:nvPr/>
        </p:nvSpPr>
        <p:spPr>
          <a:xfrm>
            <a:off x="1066800" y="4490839"/>
            <a:ext cx="2079879" cy="84827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21412"/>
                </a:solidFill>
                <a:latin typeface="Outfit" pitchFamily="34" charset="0"/>
                <a:ea typeface="Outfit" pitchFamily="34" charset="-122"/>
                <a:cs typeface="Outfit" pitchFamily="34" charset="-120"/>
              </a:rPr>
              <a:t>A photo in Slack, an upload in the app, or just say what’s wrong.</a:t>
            </a:r>
            <a:endParaRPr lang="en-US" sz="1600" dirty="0"/>
          </a:p>
        </p:txBody>
      </p:sp>
      <p:sp>
        <p:nvSpPr>
          <p:cNvPr id="8" name="Shape 6"/>
          <p:cNvSpPr/>
          <p:nvPr/>
        </p:nvSpPr>
        <p:spPr>
          <a:xfrm>
            <a:off x="3492500" y="3523109"/>
            <a:ext cx="2527300" cy="2318891"/>
          </a:xfrm>
          <a:prstGeom prst="roundRect">
            <a:avLst>
              <a:gd name="adj" fmla="val 9858"/>
            </a:avLst>
          </a:prstGeom>
          <a:gradFill rotWithShape="1">
            <a:gsLst>
              <a:gs pos="0">
                <a:srgbClr val="FFFFFF"/>
              </a:gs>
              <a:gs pos="45000">
                <a:srgbClr val="F5F0D6"/>
              </a:gs>
              <a:gs pos="100000">
                <a:srgbClr val="E9F37E"/>
              </a:gs>
            </a:gsLst>
            <a:lin ang="5400000" scaled="0"/>
          </a:gradFill>
          <a:ln/>
        </p:spPr>
        <p:txBody>
          <a:bodyPr/>
          <a:lstStyle/>
          <a:p>
            <a:endParaRPr lang="en-US"/>
          </a:p>
        </p:txBody>
      </p:sp>
      <p:sp>
        <p:nvSpPr>
          <p:cNvPr id="9" name="Text 7"/>
          <p:cNvSpPr/>
          <p:nvPr/>
        </p:nvSpPr>
        <p:spPr>
          <a:xfrm>
            <a:off x="3746500" y="3777109"/>
            <a:ext cx="2079879"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86D66"/>
                </a:solidFill>
                <a:latin typeface="Outfit" pitchFamily="34" charset="0"/>
                <a:ea typeface="Outfit" pitchFamily="34" charset="-122"/>
                <a:cs typeface="Outfit" pitchFamily="34" charset="-120"/>
              </a:rPr>
              <a:t>2</a:t>
            </a:r>
            <a:endParaRPr lang="en-US" sz="1300" dirty="0"/>
          </a:p>
        </p:txBody>
      </p:sp>
      <p:sp>
        <p:nvSpPr>
          <p:cNvPr id="10" name="Text 8"/>
          <p:cNvSpPr/>
          <p:nvPr/>
        </p:nvSpPr>
        <p:spPr>
          <a:xfrm>
            <a:off x="3746500" y="4109839"/>
            <a:ext cx="2079879" cy="304800"/>
          </a:xfrm>
          <a:prstGeom prst="rect">
            <a:avLst/>
          </a:prstGeom>
          <a:noFill/>
          <a:ln/>
        </p:spPr>
        <p:txBody>
          <a:bodyPr wrap="square" lIns="0" tIns="0" rIns="0" bIns="0" rtlCol="0" anchor="t">
            <a:normAutofit/>
          </a:bodyPr>
          <a:lstStyle/>
          <a:p>
            <a:pPr marL="0" indent="0" algn="l">
              <a:lnSpc>
                <a:spcPts val="2200"/>
              </a:lnSpc>
              <a:buNone/>
            </a:pPr>
            <a:r>
              <a:rPr lang="en-US" sz="2000" dirty="0">
                <a:solidFill>
                  <a:srgbClr val="121412"/>
                </a:solidFill>
                <a:latin typeface="Outfit" pitchFamily="34" charset="0"/>
                <a:ea typeface="Outfit" pitchFamily="34" charset="-122"/>
                <a:cs typeface="Outfit" pitchFamily="34" charset="-120"/>
              </a:rPr>
              <a:t>Read it</a:t>
            </a:r>
            <a:endParaRPr lang="en-US" sz="2000" dirty="0"/>
          </a:p>
        </p:txBody>
      </p:sp>
      <p:sp>
        <p:nvSpPr>
          <p:cNvPr id="11" name="Text 9"/>
          <p:cNvSpPr/>
          <p:nvPr/>
        </p:nvSpPr>
        <p:spPr>
          <a:xfrm>
            <a:off x="3746500" y="4490839"/>
            <a:ext cx="2079879" cy="112256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21412"/>
                </a:solidFill>
                <a:latin typeface="Outfit" pitchFamily="34" charset="0"/>
                <a:ea typeface="Outfit" pitchFamily="34" charset="-122"/>
                <a:cs typeface="Outfit" pitchFamily="34" charset="-120"/>
              </a:rPr>
              <a:t>Vision checks the photo against your inventory, so it knows the exact machine.</a:t>
            </a:r>
            <a:endParaRPr lang="en-US" sz="1600" dirty="0"/>
          </a:p>
        </p:txBody>
      </p:sp>
      <p:sp>
        <p:nvSpPr>
          <p:cNvPr id="12" name="Shape 10"/>
          <p:cNvSpPr/>
          <p:nvPr/>
        </p:nvSpPr>
        <p:spPr>
          <a:xfrm>
            <a:off x="6172200" y="3523109"/>
            <a:ext cx="2527300" cy="2318891"/>
          </a:xfrm>
          <a:prstGeom prst="roundRect">
            <a:avLst>
              <a:gd name="adj" fmla="val 9858"/>
            </a:avLst>
          </a:prstGeom>
          <a:solidFill>
            <a:srgbClr val="C1DFE8"/>
          </a:solidFill>
          <a:ln/>
        </p:spPr>
        <p:txBody>
          <a:bodyPr/>
          <a:lstStyle/>
          <a:p>
            <a:endParaRPr lang="en-US"/>
          </a:p>
        </p:txBody>
      </p:sp>
      <p:sp>
        <p:nvSpPr>
          <p:cNvPr id="13" name="Text 11"/>
          <p:cNvSpPr/>
          <p:nvPr/>
        </p:nvSpPr>
        <p:spPr>
          <a:xfrm>
            <a:off x="6426200" y="3777109"/>
            <a:ext cx="2079879"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F6A72"/>
                </a:solidFill>
                <a:latin typeface="Outfit" pitchFamily="34" charset="0"/>
                <a:ea typeface="Outfit" pitchFamily="34" charset="-122"/>
                <a:cs typeface="Outfit" pitchFamily="34" charset="-120"/>
              </a:rPr>
              <a:t>3</a:t>
            </a:r>
            <a:endParaRPr lang="en-US" sz="1300" dirty="0"/>
          </a:p>
        </p:txBody>
      </p:sp>
      <p:sp>
        <p:nvSpPr>
          <p:cNvPr id="14" name="Text 12"/>
          <p:cNvSpPr/>
          <p:nvPr/>
        </p:nvSpPr>
        <p:spPr>
          <a:xfrm>
            <a:off x="6426200" y="4109839"/>
            <a:ext cx="2079879" cy="304800"/>
          </a:xfrm>
          <a:prstGeom prst="rect">
            <a:avLst/>
          </a:prstGeom>
          <a:noFill/>
          <a:ln/>
        </p:spPr>
        <p:txBody>
          <a:bodyPr wrap="square" lIns="0" tIns="0" rIns="0" bIns="0" rtlCol="0" anchor="t">
            <a:normAutofit/>
          </a:bodyPr>
          <a:lstStyle/>
          <a:p>
            <a:pPr marL="0" indent="0" algn="l">
              <a:lnSpc>
                <a:spcPts val="2200"/>
              </a:lnSpc>
              <a:buNone/>
            </a:pPr>
            <a:r>
              <a:rPr lang="en-US" sz="2000" dirty="0">
                <a:solidFill>
                  <a:srgbClr val="121412"/>
                </a:solidFill>
                <a:latin typeface="Outfit" pitchFamily="34" charset="0"/>
                <a:ea typeface="Outfit" pitchFamily="34" charset="-122"/>
                <a:cs typeface="Outfit" pitchFamily="34" charset="-120"/>
              </a:rPr>
              <a:t>Remember it</a:t>
            </a:r>
            <a:endParaRPr lang="en-US" sz="2000" dirty="0"/>
          </a:p>
        </p:txBody>
      </p:sp>
      <p:sp>
        <p:nvSpPr>
          <p:cNvPr id="15" name="Text 13"/>
          <p:cNvSpPr/>
          <p:nvPr/>
        </p:nvSpPr>
        <p:spPr>
          <a:xfrm>
            <a:off x="6426200" y="4490839"/>
            <a:ext cx="2079879" cy="112256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21412"/>
                </a:solidFill>
                <a:latin typeface="Outfit" pitchFamily="34" charset="0"/>
                <a:ea typeface="Outfit" pitchFamily="34" charset="-122"/>
                <a:cs typeface="Outfit" pitchFamily="34" charset="-120"/>
              </a:rPr>
              <a:t>Spots duplicates and recalls what went wrong last time, and what fixed it.</a:t>
            </a:r>
            <a:endParaRPr lang="en-US" sz="1600" dirty="0"/>
          </a:p>
        </p:txBody>
      </p:sp>
      <p:sp>
        <p:nvSpPr>
          <p:cNvPr id="16" name="Shape 14"/>
          <p:cNvSpPr/>
          <p:nvPr/>
        </p:nvSpPr>
        <p:spPr>
          <a:xfrm>
            <a:off x="8851900" y="3523109"/>
            <a:ext cx="2527300" cy="2318891"/>
          </a:xfrm>
          <a:prstGeom prst="roundRect">
            <a:avLst>
              <a:gd name="adj" fmla="val 9858"/>
            </a:avLst>
          </a:prstGeom>
          <a:solidFill>
            <a:srgbClr val="10281A"/>
          </a:solidFill>
          <a:ln/>
        </p:spPr>
        <p:txBody>
          <a:bodyPr/>
          <a:lstStyle/>
          <a:p>
            <a:endParaRPr lang="en-US"/>
          </a:p>
        </p:txBody>
      </p:sp>
      <p:sp>
        <p:nvSpPr>
          <p:cNvPr id="17" name="Text 15"/>
          <p:cNvSpPr/>
          <p:nvPr/>
        </p:nvSpPr>
        <p:spPr>
          <a:xfrm>
            <a:off x="9105900" y="3777109"/>
            <a:ext cx="2079879"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9BFB0"/>
                </a:solidFill>
                <a:latin typeface="Outfit" pitchFamily="34" charset="0"/>
                <a:ea typeface="Outfit" pitchFamily="34" charset="-122"/>
                <a:cs typeface="Outfit" pitchFamily="34" charset="-120"/>
              </a:rPr>
              <a:t>4</a:t>
            </a:r>
            <a:endParaRPr lang="en-US" sz="1300" dirty="0"/>
          </a:p>
        </p:txBody>
      </p:sp>
      <p:sp>
        <p:nvSpPr>
          <p:cNvPr id="18" name="Text 16"/>
          <p:cNvSpPr/>
          <p:nvPr/>
        </p:nvSpPr>
        <p:spPr>
          <a:xfrm>
            <a:off x="9105900" y="4109839"/>
            <a:ext cx="2079879" cy="304800"/>
          </a:xfrm>
          <a:prstGeom prst="rect">
            <a:avLst/>
          </a:prstGeom>
          <a:noFill/>
          <a:ln/>
        </p:spPr>
        <p:txBody>
          <a:bodyPr wrap="square" lIns="0" tIns="0" rIns="0" bIns="0" rtlCol="0" anchor="t">
            <a:normAutofit/>
          </a:bodyPr>
          <a:lstStyle/>
          <a:p>
            <a:pPr marL="0" indent="0" algn="l">
              <a:lnSpc>
                <a:spcPts val="2200"/>
              </a:lnSpc>
              <a:buNone/>
            </a:pPr>
            <a:r>
              <a:rPr lang="en-US" sz="2000" dirty="0">
                <a:solidFill>
                  <a:srgbClr val="FFFFFF"/>
                </a:solidFill>
                <a:latin typeface="Outfit" pitchFamily="34" charset="0"/>
                <a:ea typeface="Outfit" pitchFamily="34" charset="-122"/>
                <a:cs typeface="Outfit" pitchFamily="34" charset="-120"/>
              </a:rPr>
              <a:t>Hand it off</a:t>
            </a:r>
            <a:endParaRPr lang="en-US" sz="2000" dirty="0"/>
          </a:p>
        </p:txBody>
      </p:sp>
      <p:sp>
        <p:nvSpPr>
          <p:cNvPr id="19" name="Text 17"/>
          <p:cNvSpPr/>
          <p:nvPr/>
        </p:nvSpPr>
        <p:spPr>
          <a:xfrm>
            <a:off x="9105900" y="4490839"/>
            <a:ext cx="2079879" cy="112256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FFFFF"/>
                </a:solidFill>
                <a:latin typeface="Outfit" pitchFamily="34" charset="0"/>
                <a:ea typeface="Outfit" pitchFamily="34" charset="-122"/>
                <a:cs typeface="Outfit" pitchFamily="34" charset="-120"/>
              </a:rPr>
              <a:t>Talks you through the fix, or escalates to the right supplier with the full brief.</a:t>
            </a:r>
            <a:endParaRPr lang="en-US" sz="1600" dirty="0"/>
          </a:p>
        </p:txBody>
      </p:sp>
      <p:sp>
        <p:nvSpPr>
          <p:cNvPr id="20" name="Text 18"/>
          <p:cNvSpPr/>
          <p:nvPr/>
        </p:nvSpPr>
        <p:spPr>
          <a:xfrm>
            <a:off x="812800" y="6238280"/>
            <a:ext cx="403967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86D66"/>
                </a:solidFill>
                <a:latin typeface="Outfit" pitchFamily="34" charset="0"/>
                <a:ea typeface="Outfit" pitchFamily="34" charset="-122"/>
                <a:cs typeface="Outfit" pitchFamily="34" charset="-120"/>
              </a:rPr>
              <a:t>Built on OpenAI vision, ElevenLabs voice and Slack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0281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9BFB0"/>
                </a:solidFill>
                <a:latin typeface="Outfit" pitchFamily="34" charset="0"/>
                <a:ea typeface="Outfit" pitchFamily="34" charset="-122"/>
                <a:cs typeface="Outfit" pitchFamily="34" charset="-120"/>
              </a:rPr>
              <a:t>Why Steward</a:t>
            </a:r>
            <a:endParaRPr lang="en-US" sz="1300" dirty="0"/>
          </a:p>
        </p:txBody>
      </p:sp>
      <p:sp>
        <p:nvSpPr>
          <p:cNvPr id="3" name="Text 1"/>
          <p:cNvSpPr>
            <a:spLocks noGrp="1"/>
          </p:cNvSpPr>
          <p:nvPr>
            <p:ph type="title"/>
          </p:nvPr>
        </p:nvSpPr>
        <p:spPr>
          <a:xfrm>
            <a:off x="812800" y="1196330"/>
            <a:ext cx="10883392" cy="558800"/>
          </a:xfrm>
          <a:prstGeom prst="rect">
            <a:avLst/>
          </a:prstGeom>
          <a:noFill/>
          <a:ln/>
        </p:spPr>
        <p:txBody>
          <a:bodyPr wrap="square" lIns="0" tIns="0" rIns="0" bIns="0" rtlCol="0" anchor="t">
            <a:normAutofit/>
          </a:bodyPr>
          <a:lstStyle/>
          <a:p>
            <a:pPr marL="0" indent="0" algn="l">
              <a:lnSpc>
                <a:spcPts val="4200"/>
              </a:lnSpc>
              <a:buNone/>
            </a:pPr>
            <a:r>
              <a:rPr lang="en-US" sz="4000" b="0" i="0" kern="0" spc="-120" dirty="0">
                <a:solidFill>
                  <a:srgbClr val="FFFFFF"/>
                </a:solidFill>
                <a:latin typeface="Outfit" pitchFamily="34" charset="0"/>
                <a:ea typeface="Outfit" pitchFamily="34" charset="-122"/>
                <a:cs typeface="Outfit" pitchFamily="34" charset="-120"/>
              </a:rPr>
              <a:t>Not a general assistant</a:t>
            </a:r>
            <a:endParaRPr lang="en-US" sz="4000" dirty="0"/>
          </a:p>
        </p:txBody>
      </p:sp>
      <p:sp>
        <p:nvSpPr>
          <p:cNvPr id="4" name="Shape 2"/>
          <p:cNvSpPr/>
          <p:nvPr/>
        </p:nvSpPr>
        <p:spPr>
          <a:xfrm>
            <a:off x="812800" y="2409279"/>
            <a:ext cx="3420517" cy="1986161"/>
          </a:xfrm>
          <a:prstGeom prst="roundRect">
            <a:avLst>
              <a:gd name="adj" fmla="val 11510"/>
            </a:avLst>
          </a:prstGeom>
          <a:solidFill>
            <a:srgbClr val="C1DFE8"/>
          </a:solidFill>
          <a:ln/>
        </p:spPr>
        <p:txBody>
          <a:bodyPr/>
          <a:lstStyle/>
          <a:p>
            <a:endParaRPr lang="en-US"/>
          </a:p>
        </p:txBody>
      </p:sp>
      <p:sp>
        <p:nvSpPr>
          <p:cNvPr id="5" name="Text 3"/>
          <p:cNvSpPr/>
          <p:nvPr/>
        </p:nvSpPr>
        <p:spPr>
          <a:xfrm>
            <a:off x="1066800" y="2663279"/>
            <a:ext cx="2999892" cy="304800"/>
          </a:xfrm>
          <a:prstGeom prst="rect">
            <a:avLst/>
          </a:prstGeom>
          <a:noFill/>
          <a:ln/>
        </p:spPr>
        <p:txBody>
          <a:bodyPr wrap="square" lIns="0" tIns="0" rIns="0" bIns="0" rtlCol="0" anchor="t">
            <a:normAutofit/>
          </a:bodyPr>
          <a:lstStyle/>
          <a:p>
            <a:pPr marL="0" indent="0" algn="l">
              <a:lnSpc>
                <a:spcPts val="2200"/>
              </a:lnSpc>
              <a:buNone/>
            </a:pPr>
            <a:r>
              <a:rPr lang="en-US" sz="2000" dirty="0">
                <a:solidFill>
                  <a:srgbClr val="121412"/>
                </a:solidFill>
                <a:latin typeface="Outfit" pitchFamily="34" charset="0"/>
                <a:ea typeface="Outfit" pitchFamily="34" charset="-122"/>
                <a:cs typeface="Outfit" pitchFamily="34" charset="-120"/>
              </a:rPr>
              <a:t>Memory</a:t>
            </a:r>
            <a:endParaRPr lang="en-US" sz="2000" dirty="0"/>
          </a:p>
        </p:txBody>
      </p:sp>
      <p:sp>
        <p:nvSpPr>
          <p:cNvPr id="6" name="Text 4"/>
          <p:cNvSpPr/>
          <p:nvPr/>
        </p:nvSpPr>
        <p:spPr>
          <a:xfrm>
            <a:off x="1066800" y="3044279"/>
            <a:ext cx="2999892" cy="112256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21412"/>
                </a:solidFill>
                <a:latin typeface="Outfit" pitchFamily="34" charset="0"/>
                <a:ea typeface="Outfit" pitchFamily="34" charset="-122"/>
                <a:cs typeface="Outfit" pitchFamily="34" charset="-120"/>
              </a:rPr>
              <a:t>Every photo, fix and supplier call becomes your office’s history. General assistants start from scratch each time.</a:t>
            </a:r>
            <a:endParaRPr lang="en-US" sz="1600" dirty="0"/>
          </a:p>
        </p:txBody>
      </p:sp>
      <p:sp>
        <p:nvSpPr>
          <p:cNvPr id="7" name="Shape 5"/>
          <p:cNvSpPr/>
          <p:nvPr/>
        </p:nvSpPr>
        <p:spPr>
          <a:xfrm>
            <a:off x="4385717" y="2409279"/>
            <a:ext cx="3420566" cy="1986161"/>
          </a:xfrm>
          <a:prstGeom prst="roundRect">
            <a:avLst>
              <a:gd name="adj" fmla="val 11510"/>
            </a:avLst>
          </a:prstGeom>
          <a:solidFill>
            <a:srgbClr val="FFFFFF"/>
          </a:solidFill>
          <a:ln/>
        </p:spPr>
        <p:txBody>
          <a:bodyPr/>
          <a:lstStyle/>
          <a:p>
            <a:endParaRPr lang="en-US"/>
          </a:p>
        </p:txBody>
      </p:sp>
      <p:sp>
        <p:nvSpPr>
          <p:cNvPr id="8" name="Text 6"/>
          <p:cNvSpPr/>
          <p:nvPr/>
        </p:nvSpPr>
        <p:spPr>
          <a:xfrm>
            <a:off x="4639717" y="2663279"/>
            <a:ext cx="2999943" cy="304800"/>
          </a:xfrm>
          <a:prstGeom prst="rect">
            <a:avLst/>
          </a:prstGeom>
          <a:noFill/>
          <a:ln/>
        </p:spPr>
        <p:txBody>
          <a:bodyPr wrap="square" lIns="0" tIns="0" rIns="0" bIns="0" rtlCol="0" anchor="t">
            <a:normAutofit/>
          </a:bodyPr>
          <a:lstStyle/>
          <a:p>
            <a:pPr marL="0" indent="0" algn="l">
              <a:lnSpc>
                <a:spcPts val="2200"/>
              </a:lnSpc>
              <a:buNone/>
            </a:pPr>
            <a:r>
              <a:rPr lang="en-US" sz="2000" dirty="0">
                <a:solidFill>
                  <a:srgbClr val="121412"/>
                </a:solidFill>
                <a:latin typeface="Outfit" pitchFamily="34" charset="0"/>
                <a:ea typeface="Outfit" pitchFamily="34" charset="-122"/>
                <a:cs typeface="Outfit" pitchFamily="34" charset="-120"/>
              </a:rPr>
              <a:t>A data moat</a:t>
            </a:r>
            <a:endParaRPr lang="en-US" sz="2000" dirty="0"/>
          </a:p>
        </p:txBody>
      </p:sp>
      <p:sp>
        <p:nvSpPr>
          <p:cNvPr id="9" name="Text 7"/>
          <p:cNvSpPr/>
          <p:nvPr/>
        </p:nvSpPr>
        <p:spPr>
          <a:xfrm>
            <a:off x="4639717" y="3044279"/>
            <a:ext cx="2999943" cy="84827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21412"/>
                </a:solidFill>
                <a:latin typeface="Outfit" pitchFamily="34" charset="0"/>
                <a:ea typeface="Outfit" pitchFamily="34" charset="-122"/>
                <a:cs typeface="Outfit" pitchFamily="34" charset="-120"/>
              </a:rPr>
              <a:t>Your inventory, fault history and who fixed what grow with every issue. That is hard to copy.</a:t>
            </a:r>
            <a:endParaRPr lang="en-US" sz="1600" dirty="0"/>
          </a:p>
        </p:txBody>
      </p:sp>
      <p:sp>
        <p:nvSpPr>
          <p:cNvPr id="10" name="Shape 8"/>
          <p:cNvSpPr/>
          <p:nvPr/>
        </p:nvSpPr>
        <p:spPr>
          <a:xfrm>
            <a:off x="7958683" y="2409279"/>
            <a:ext cx="3420517" cy="1986161"/>
          </a:xfrm>
          <a:prstGeom prst="roundRect">
            <a:avLst>
              <a:gd name="adj" fmla="val 11510"/>
            </a:avLst>
          </a:prstGeom>
          <a:solidFill>
            <a:srgbClr val="FFFFFF"/>
          </a:solidFill>
          <a:ln/>
        </p:spPr>
        <p:txBody>
          <a:bodyPr/>
          <a:lstStyle/>
          <a:p>
            <a:endParaRPr lang="en-US"/>
          </a:p>
        </p:txBody>
      </p:sp>
      <p:sp>
        <p:nvSpPr>
          <p:cNvPr id="11" name="Text 9"/>
          <p:cNvSpPr/>
          <p:nvPr/>
        </p:nvSpPr>
        <p:spPr>
          <a:xfrm>
            <a:off x="8212683" y="2663279"/>
            <a:ext cx="2999892" cy="304800"/>
          </a:xfrm>
          <a:prstGeom prst="rect">
            <a:avLst/>
          </a:prstGeom>
          <a:noFill/>
          <a:ln/>
        </p:spPr>
        <p:txBody>
          <a:bodyPr wrap="square" lIns="0" tIns="0" rIns="0" bIns="0" rtlCol="0" anchor="t">
            <a:normAutofit/>
          </a:bodyPr>
          <a:lstStyle/>
          <a:p>
            <a:pPr marL="0" indent="0" algn="l">
              <a:lnSpc>
                <a:spcPts val="2200"/>
              </a:lnSpc>
              <a:buNone/>
            </a:pPr>
            <a:r>
              <a:rPr lang="en-US" sz="2000" dirty="0">
                <a:solidFill>
                  <a:srgbClr val="121412"/>
                </a:solidFill>
                <a:latin typeface="Outfit" pitchFamily="34" charset="0"/>
                <a:ea typeface="Outfit" pitchFamily="34" charset="-122"/>
                <a:cs typeface="Outfit" pitchFamily="34" charset="-120"/>
              </a:rPr>
              <a:t>Private</a:t>
            </a:r>
            <a:endParaRPr lang="en-US" sz="2000" dirty="0"/>
          </a:p>
        </p:txBody>
      </p:sp>
      <p:sp>
        <p:nvSpPr>
          <p:cNvPr id="12" name="Text 10"/>
          <p:cNvSpPr/>
          <p:nvPr/>
        </p:nvSpPr>
        <p:spPr>
          <a:xfrm>
            <a:off x="8212683" y="3044279"/>
            <a:ext cx="2999892" cy="84827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21412"/>
                </a:solidFill>
                <a:latin typeface="Outfit" pitchFamily="34" charset="0"/>
                <a:ea typeface="Outfit" pitchFamily="34" charset="-122"/>
                <a:cs typeface="Outfit" pitchFamily="34" charset="-120"/>
              </a:rPr>
              <a:t>Personalised to your office and your device. Your data stays yours.</a:t>
            </a:r>
            <a:endParaRPr lang="en-US" sz="1600" dirty="0"/>
          </a:p>
        </p:txBody>
      </p:sp>
      <p:sp>
        <p:nvSpPr>
          <p:cNvPr id="13" name="Text 11"/>
          <p:cNvSpPr/>
          <p:nvPr/>
        </p:nvSpPr>
        <p:spPr>
          <a:xfrm>
            <a:off x="812800" y="507494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9BFB0"/>
                </a:solidFill>
                <a:latin typeface="Outfit" pitchFamily="34" charset="0"/>
                <a:ea typeface="Outfit" pitchFamily="34" charset="-122"/>
                <a:cs typeface="Outfit" pitchFamily="34" charset="-120"/>
              </a:rPr>
              <a:t>Who it serves</a:t>
            </a:r>
            <a:endParaRPr lang="en-US" sz="1300" dirty="0"/>
          </a:p>
        </p:txBody>
      </p:sp>
      <p:sp>
        <p:nvSpPr>
          <p:cNvPr id="14" name="Text 12"/>
          <p:cNvSpPr/>
          <p:nvPr/>
        </p:nvSpPr>
        <p:spPr>
          <a:xfrm>
            <a:off x="812800" y="5407670"/>
            <a:ext cx="1631702" cy="434330"/>
          </a:xfrm>
          <a:prstGeom prst="roundRect">
            <a:avLst>
              <a:gd name="adj" fmla="val 50000"/>
            </a:avLst>
          </a:prstGeom>
          <a:solidFill>
            <a:srgbClr val="1F3D2B"/>
          </a:solidFill>
          <a:ln/>
        </p:spPr>
        <p:txBody>
          <a:bodyPr wrap="none" lIns="0" tIns="0" rIns="0" bIns="0" rtlCol="0" anchor="ctr">
            <a:normAutofit/>
          </a:bodyPr>
          <a:lstStyle/>
          <a:p>
            <a:pPr marL="0" indent="0" algn="ctr">
              <a:lnSpc>
                <a:spcPts val="1820"/>
              </a:lnSpc>
              <a:buNone/>
            </a:pPr>
            <a:r>
              <a:rPr lang="en-US" sz="1300" dirty="0">
                <a:solidFill>
                  <a:srgbClr val="FFFFFF"/>
                </a:solidFill>
                <a:latin typeface="Outfit" pitchFamily="34" charset="0"/>
                <a:ea typeface="Outfit" pitchFamily="34" charset="-122"/>
                <a:cs typeface="Outfit" pitchFamily="34" charset="-120"/>
              </a:rPr>
              <a:t>Office managers</a:t>
            </a:r>
            <a:endParaRPr lang="en-US" sz="1300" dirty="0"/>
          </a:p>
        </p:txBody>
      </p:sp>
      <p:sp>
        <p:nvSpPr>
          <p:cNvPr id="15" name="Text 13"/>
          <p:cNvSpPr/>
          <p:nvPr/>
        </p:nvSpPr>
        <p:spPr>
          <a:xfrm>
            <a:off x="2546102" y="5407670"/>
            <a:ext cx="2223641" cy="434330"/>
          </a:xfrm>
          <a:prstGeom prst="roundRect">
            <a:avLst>
              <a:gd name="adj" fmla="val 50000"/>
            </a:avLst>
          </a:prstGeom>
          <a:solidFill>
            <a:srgbClr val="1F3D2B"/>
          </a:solidFill>
          <a:ln/>
        </p:spPr>
        <p:txBody>
          <a:bodyPr wrap="none" lIns="0" tIns="0" rIns="0" bIns="0" rtlCol="0" anchor="ctr">
            <a:normAutofit/>
          </a:bodyPr>
          <a:lstStyle/>
          <a:p>
            <a:pPr marL="0" indent="0" algn="ctr">
              <a:lnSpc>
                <a:spcPts val="1820"/>
              </a:lnSpc>
              <a:buNone/>
            </a:pPr>
            <a:r>
              <a:rPr lang="en-US" sz="1300" dirty="0">
                <a:solidFill>
                  <a:srgbClr val="FFFFFF"/>
                </a:solidFill>
                <a:latin typeface="Outfit" pitchFamily="34" charset="0"/>
                <a:ea typeface="Outfit" pitchFamily="34" charset="-122"/>
                <a:cs typeface="Outfit" pitchFamily="34" charset="-120"/>
              </a:rPr>
              <a:t>COO and budget holders</a:t>
            </a:r>
            <a:endParaRPr lang="en-US" sz="1300" dirty="0"/>
          </a:p>
        </p:txBody>
      </p:sp>
      <p:sp>
        <p:nvSpPr>
          <p:cNvPr id="16" name="Text 14"/>
          <p:cNvSpPr/>
          <p:nvPr/>
        </p:nvSpPr>
        <p:spPr>
          <a:xfrm>
            <a:off x="4871343" y="5407670"/>
            <a:ext cx="1072505" cy="434330"/>
          </a:xfrm>
          <a:prstGeom prst="roundRect">
            <a:avLst>
              <a:gd name="adj" fmla="val 50000"/>
            </a:avLst>
          </a:prstGeom>
          <a:solidFill>
            <a:srgbClr val="1F3D2B"/>
          </a:solidFill>
          <a:ln/>
        </p:spPr>
        <p:txBody>
          <a:bodyPr wrap="none" lIns="0" tIns="0" rIns="0" bIns="0" rtlCol="0" anchor="ctr">
            <a:normAutofit/>
          </a:bodyPr>
          <a:lstStyle/>
          <a:p>
            <a:pPr marL="0" indent="0" algn="ctr">
              <a:lnSpc>
                <a:spcPts val="1820"/>
              </a:lnSpc>
              <a:buNone/>
            </a:pPr>
            <a:r>
              <a:rPr lang="en-US" sz="1300" dirty="0">
                <a:solidFill>
                  <a:srgbClr val="FFFFFF"/>
                </a:solidFill>
                <a:latin typeface="Outfit" pitchFamily="34" charset="0"/>
                <a:ea typeface="Outfit" pitchFamily="34" charset="-122"/>
                <a:cs typeface="Outfit" pitchFamily="34" charset="-120"/>
              </a:rPr>
              <a:t>Suppliers</a:t>
            </a:r>
            <a:endParaRPr lang="en-US" sz="1300" dirty="0"/>
          </a:p>
        </p:txBody>
      </p:sp>
      <p:sp>
        <p:nvSpPr>
          <p:cNvPr id="17" name="Text 15"/>
          <p:cNvSpPr/>
          <p:nvPr/>
        </p:nvSpPr>
        <p:spPr>
          <a:xfrm>
            <a:off x="6045448" y="5407670"/>
            <a:ext cx="764530" cy="434330"/>
          </a:xfrm>
          <a:prstGeom prst="roundRect">
            <a:avLst>
              <a:gd name="adj" fmla="val 50000"/>
            </a:avLst>
          </a:prstGeom>
          <a:solidFill>
            <a:srgbClr val="1F3D2B"/>
          </a:solidFill>
          <a:ln/>
        </p:spPr>
        <p:txBody>
          <a:bodyPr wrap="none" lIns="0" tIns="0" rIns="0" bIns="0" rtlCol="0" anchor="ctr">
            <a:normAutofit/>
          </a:bodyPr>
          <a:lstStyle/>
          <a:p>
            <a:pPr marL="0" indent="0" algn="ctr">
              <a:lnSpc>
                <a:spcPts val="1820"/>
              </a:lnSpc>
              <a:buNone/>
            </a:pPr>
            <a:r>
              <a:rPr lang="en-US" sz="1300" dirty="0">
                <a:solidFill>
                  <a:srgbClr val="FFFFFF"/>
                </a:solidFill>
                <a:latin typeface="Outfit" pitchFamily="34" charset="0"/>
                <a:ea typeface="Outfit" pitchFamily="34" charset="-122"/>
                <a:cs typeface="Outfit" pitchFamily="34" charset="-120"/>
              </a:rPr>
              <a:t>Staff</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0ED"/>
        </a:solidFill>
        <a:effectLst/>
      </p:bgPr>
    </p:bg>
    <p:spTree>
      <p:nvGrpSpPr>
        <p:cNvPr id="1" name=""/>
        <p:cNvGrpSpPr/>
        <p:nvPr/>
      </p:nvGrpSpPr>
      <p:grpSpPr>
        <a:xfrm>
          <a:off x="0" y="0"/>
          <a:ext cx="0" cy="0"/>
          <a:chOff x="0" y="0"/>
          <a:chExt cx="0" cy="0"/>
        </a:xfrm>
      </p:grpSpPr>
      <p:pic>
        <p:nvPicPr>
          <p:cNvPr id="2" name="Image 0" descr="A hand holding the Steward wand: a matte silver sphere with a camera lens set in a speaker grille, on a flared handle with a small amber light"/>
          <p:cNvPicPr>
            <a:picLocks noChangeAspect="1"/>
          </p:cNvPicPr>
          <p:nvPr/>
        </p:nvPicPr>
        <p:blipFill>
          <a:blip r:embed="rId3"/>
          <a:srcRect t="5071" b="5071"/>
          <a:stretch/>
        </p:blipFill>
        <p:spPr>
          <a:xfrm>
            <a:off x="6477000" y="0"/>
            <a:ext cx="5715000" cy="6858000"/>
          </a:xfrm>
          <a:prstGeom prst="rect">
            <a:avLst/>
          </a:prstGeom>
        </p:spPr>
      </p:pic>
      <p:sp>
        <p:nvSpPr>
          <p:cNvPr id="3" name="Text 0"/>
          <p:cNvSpPr/>
          <p:nvPr/>
        </p:nvSpPr>
        <p:spPr>
          <a:xfrm>
            <a:off x="812800" y="1369070"/>
            <a:ext cx="549402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86D66"/>
                </a:solidFill>
                <a:latin typeface="Outfit" pitchFamily="34" charset="0"/>
                <a:ea typeface="Outfit" pitchFamily="34" charset="-122"/>
                <a:cs typeface="Outfit" pitchFamily="34" charset="-120"/>
              </a:rPr>
              <a:t>Meet the</a:t>
            </a:r>
            <a:endParaRPr lang="en-US" sz="1300" dirty="0"/>
          </a:p>
        </p:txBody>
      </p:sp>
      <p:sp>
        <p:nvSpPr>
          <p:cNvPr id="4" name="Text 1"/>
          <p:cNvSpPr>
            <a:spLocks noGrp="1"/>
          </p:cNvSpPr>
          <p:nvPr>
            <p:ph type="title"/>
          </p:nvPr>
        </p:nvSpPr>
        <p:spPr>
          <a:xfrm>
            <a:off x="812800" y="1803400"/>
            <a:ext cx="5494020" cy="2438400"/>
          </a:xfrm>
          <a:prstGeom prst="rect">
            <a:avLst/>
          </a:prstGeom>
          <a:noFill/>
          <a:ln/>
        </p:spPr>
        <p:txBody>
          <a:bodyPr wrap="square" lIns="0" tIns="0" rIns="0" bIns="0" rtlCol="0" anchor="t">
            <a:normAutofit/>
          </a:bodyPr>
          <a:lstStyle/>
          <a:p>
            <a:pPr marL="0" indent="0" algn="l">
              <a:lnSpc>
                <a:spcPts val="9500"/>
              </a:lnSpc>
              <a:buNone/>
            </a:pPr>
            <a:r>
              <a:rPr lang="en-US" sz="10000" b="0" i="0" kern="0" spc="-400" dirty="0">
                <a:solidFill>
                  <a:srgbClr val="121412"/>
                </a:solidFill>
                <a:latin typeface="Outfit" pitchFamily="34" charset="0"/>
                <a:ea typeface="Outfit" pitchFamily="34" charset="-122"/>
                <a:cs typeface="Outfit" pitchFamily="34" charset="-120"/>
              </a:rPr>
              <a:t>Steward wand</a:t>
            </a:r>
            <a:endParaRPr lang="en-US" sz="10000" dirty="0"/>
          </a:p>
        </p:txBody>
      </p:sp>
      <p:sp>
        <p:nvSpPr>
          <p:cNvPr id="5" name="Text 2"/>
          <p:cNvSpPr/>
          <p:nvPr/>
        </p:nvSpPr>
        <p:spPr>
          <a:xfrm>
            <a:off x="812800" y="4419600"/>
            <a:ext cx="5494020" cy="660400"/>
          </a:xfrm>
          <a:prstGeom prst="rect">
            <a:avLst/>
          </a:prstGeom>
          <a:noFill/>
          <a:ln/>
        </p:spPr>
        <p:txBody>
          <a:bodyPr wrap="square" lIns="0" tIns="0" rIns="0" bIns="0" rtlCol="0" anchor="t">
            <a:normAutofit/>
          </a:bodyPr>
          <a:lstStyle/>
          <a:p>
            <a:pPr marL="0" indent="0" algn="l">
              <a:lnSpc>
                <a:spcPts val="2500"/>
              </a:lnSpc>
              <a:buNone/>
            </a:pPr>
            <a:r>
              <a:rPr lang="en-US" sz="2000" dirty="0">
                <a:solidFill>
                  <a:srgbClr val="121412"/>
                </a:solidFill>
                <a:latin typeface="Outfit" pitchFamily="34" charset="0"/>
                <a:ea typeface="Outfit" pitchFamily="34" charset="-122"/>
                <a:cs typeface="Outfit" pitchFamily="34" charset="-120"/>
              </a:rPr>
              <a:t>Point it at the problem. Steward sees it, and tells you the fix out loud.</a:t>
            </a:r>
            <a:endParaRPr lang="en-US" sz="2000" dirty="0"/>
          </a:p>
        </p:txBody>
      </p:sp>
      <p:sp>
        <p:nvSpPr>
          <p:cNvPr id="6" name="Text 3"/>
          <p:cNvSpPr/>
          <p:nvPr/>
        </p:nvSpPr>
        <p:spPr>
          <a:xfrm>
            <a:off x="812800" y="5257800"/>
            <a:ext cx="549402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86D66"/>
                </a:solidFill>
                <a:latin typeface="Outfit" pitchFamily="34" charset="0"/>
                <a:ea typeface="Outfit" pitchFamily="34" charset="-122"/>
                <a:cs typeface="Outfit" pitchFamily="34" charset="-120"/>
              </a:rPr>
              <a:t>A camera and a speaker in one hand. Concept.</a:t>
            </a:r>
            <a:endParaRPr lang="en-US" sz="1300" dirty="0"/>
          </a:p>
        </p:txBody>
      </p:sp>
    </p:spTree>
  </p:cSld>
  <p:clrMapOvr>
    <a:masterClrMapping/>
  </p:clrMapOvr>
</p:sld>
</file>

<file path=ppt/theme/theme1.xml><?xml version="1.0" encoding="utf-8"?>
<a:theme xmlns:a="http://schemas.openxmlformats.org/drawingml/2006/main" name="Steward pitch">
  <a:themeElements>
    <a:clrScheme name="Steward pitch">
      <a:dk1>
        <a:srgbClr val="121412"/>
      </a:dk1>
      <a:lt1>
        <a:srgbClr val="ECEEE9"/>
      </a:lt1>
      <a:dk2>
        <a:srgbClr val="494B48"/>
      </a:dk2>
      <a:lt2>
        <a:srgbClr val="D6D8D4"/>
      </a:lt2>
      <a:accent1>
        <a:srgbClr val="E9F37E"/>
      </a:accent1>
      <a:accent2>
        <a:srgbClr val="C1DFE8"/>
      </a:accent2>
      <a:accent3>
        <a:srgbClr val="686D66"/>
      </a:accent3>
      <a:accent4>
        <a:srgbClr val="1F3D2B"/>
      </a:accent4>
      <a:accent5>
        <a:srgbClr val="A9BFB0"/>
      </a:accent5>
      <a:accent6>
        <a:srgbClr val="4F6A72"/>
      </a:accent6>
      <a:hlink>
        <a:srgbClr val="0563C1"/>
      </a:hlink>
      <a:folHlink>
        <a:srgbClr val="954F72"/>
      </a:folHlink>
    </a:clrScheme>
    <a:fontScheme name="Steward pitch">
      <a:majorFont>
        <a:latin typeface="Outfi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utfi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1282</TotalTime>
  <Words>643</Words>
  <Application>Microsoft Macintosh PowerPoint</Application>
  <PresentationFormat>Widescreen</PresentationFormat>
  <Paragraphs>60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Outfit</vt:lpstr>
      <vt:lpstr>Steward pitch</vt:lpstr>
      <vt:lpstr>Steward</vt:lpstr>
      <vt:lpstr>Small problems eat the office manager’s day</vt:lpstr>
      <vt:lpstr>Steward the Office Manager</vt:lpstr>
      <vt:lpstr>Snap it. Steward does the rest.</vt:lpstr>
      <vt:lpstr>Not a general assistant</vt:lpstr>
      <vt:lpstr>Steward wand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Steward pitch</dc:title>
  <dc:subject/>
  <dc:creator/>
  <cp:lastModifiedBy>Nikolaj Buhl</cp:lastModifiedBy>
  <cp:revision>2</cp:revision>
  <dcterms:created xsi:type="dcterms:W3CDTF">2026-10-17T14:52:33Z</dcterms:created>
  <dcterms:modified xsi:type="dcterms:W3CDTF">2026-10-19T09:15:39Z</dcterms:modified>
</cp:coreProperties>
</file>